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1" r:id="rId2"/>
    <p:sldId id="257" r:id="rId3"/>
    <p:sldId id="271" r:id="rId4"/>
    <p:sldId id="272" r:id="rId5"/>
    <p:sldId id="268" r:id="rId6"/>
    <p:sldId id="267" r:id="rId7"/>
    <p:sldId id="269" r:id="rId8"/>
    <p:sldId id="270" r:id="rId9"/>
    <p:sldId id="262" r:id="rId10"/>
    <p:sldId id="263" r:id="rId11"/>
    <p:sldId id="266" r:id="rId12"/>
    <p:sldId id="265" r:id="rId13"/>
    <p:sldId id="264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>
        <p:scale>
          <a:sx n="75" d="100"/>
          <a:sy n="75" d="100"/>
        </p:scale>
        <p:origin x="974" y="13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A29113-7A70-4E0E-B036-871C49B835F1}" type="doc">
      <dgm:prSet loTypeId="urn:microsoft.com/office/officeart/2005/8/layout/hProcess6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6406C01-7E83-4650-8EF5-394419DCB348}">
      <dgm:prSet phldrT="[Text]"/>
      <dgm:spPr/>
      <dgm:t>
        <a:bodyPr/>
        <a:lstStyle/>
        <a:p>
          <a:r>
            <a:rPr lang="en-US" b="1" dirty="0"/>
            <a:t>Core Tables</a:t>
          </a:r>
        </a:p>
      </dgm:t>
      <dgm:extLst>
        <a:ext uri="{E40237B7-FDA0-4F09-8148-C483321AD2D9}">
          <dgm14:cNvPr xmlns:dgm14="http://schemas.microsoft.com/office/drawing/2010/diagram" id="0" name="" title="Step 1 title"/>
        </a:ext>
      </dgm:extLst>
    </dgm:pt>
    <dgm:pt modelId="{2586B3BB-DA8B-42DF-AC9A-77CE21607FD0}" type="parTrans" cxnId="{4D956F8D-5727-488A-93AF-F33602655A44}">
      <dgm:prSet/>
      <dgm:spPr/>
      <dgm:t>
        <a:bodyPr/>
        <a:lstStyle/>
        <a:p>
          <a:endParaRPr lang="en-US"/>
        </a:p>
      </dgm:t>
    </dgm:pt>
    <dgm:pt modelId="{7C5B61F0-A4F6-4FCA-B552-36151F31051E}" type="sibTrans" cxnId="{4D956F8D-5727-488A-93AF-F33602655A44}">
      <dgm:prSet/>
      <dgm:spPr/>
      <dgm:t>
        <a:bodyPr/>
        <a:lstStyle/>
        <a:p>
          <a:endParaRPr lang="en-US"/>
        </a:p>
      </dgm:t>
    </dgm:pt>
    <dgm:pt modelId="{E4E9F0D0-FF23-4B59-9B97-973BCBE5DC65}">
      <dgm:prSet phldrT="[Text]"/>
      <dgm:spPr/>
      <dgm:t>
        <a:bodyPr/>
        <a:lstStyle/>
        <a:p>
          <a:pPr>
            <a:buNone/>
          </a:pPr>
          <a:r>
            <a:rPr lang="en-US" dirty="0"/>
            <a:t>Users, Menu, Categories, Time Slots</a:t>
          </a:r>
        </a:p>
      </dgm:t>
      <dgm:extLst>
        <a:ext uri="{E40237B7-FDA0-4F09-8148-C483321AD2D9}">
          <dgm14:cNvPr xmlns:dgm14="http://schemas.microsoft.com/office/drawing/2010/diagram" id="0" name="" title="Step 1 - task description"/>
        </a:ext>
      </dgm:extLst>
    </dgm:pt>
    <dgm:pt modelId="{E9237435-F938-45D4-8BF4-6D5D4DFF850F}" type="parTrans" cxnId="{37A3A996-9723-4BDB-8959-9D9B7799BD9A}">
      <dgm:prSet/>
      <dgm:spPr/>
      <dgm:t>
        <a:bodyPr/>
        <a:lstStyle/>
        <a:p>
          <a:endParaRPr lang="en-US"/>
        </a:p>
      </dgm:t>
    </dgm:pt>
    <dgm:pt modelId="{D32B195A-7CAD-474B-B79C-BE4BB171E742}" type="sibTrans" cxnId="{37A3A996-9723-4BDB-8959-9D9B7799BD9A}">
      <dgm:prSet/>
      <dgm:spPr/>
      <dgm:t>
        <a:bodyPr/>
        <a:lstStyle/>
        <a:p>
          <a:endParaRPr lang="en-US"/>
        </a:p>
      </dgm:t>
    </dgm:pt>
    <dgm:pt modelId="{5D952622-A79E-41E4-BBC2-6212DEFFA91C}">
      <dgm:prSet phldrT="[Text]"/>
      <dgm:spPr/>
      <dgm:t>
        <a:bodyPr/>
        <a:lstStyle/>
        <a:p>
          <a:r>
            <a:rPr lang="en-US" b="1" dirty="0"/>
            <a:t>Transaction Tables</a:t>
          </a:r>
        </a:p>
      </dgm:t>
      <dgm:extLst>
        <a:ext uri="{E40237B7-FDA0-4F09-8148-C483321AD2D9}">
          <dgm14:cNvPr xmlns:dgm14="http://schemas.microsoft.com/office/drawing/2010/diagram" id="0" name="" title="Step 2 title"/>
        </a:ext>
      </dgm:extLst>
    </dgm:pt>
    <dgm:pt modelId="{10627A68-BE4B-4A4A-9EC9-4CFEF1E4DF39}" type="parTrans" cxnId="{A22BDB9A-90BB-4DA2-8850-00D4F1D3B898}">
      <dgm:prSet/>
      <dgm:spPr/>
      <dgm:t>
        <a:bodyPr/>
        <a:lstStyle/>
        <a:p>
          <a:endParaRPr lang="en-US"/>
        </a:p>
      </dgm:t>
    </dgm:pt>
    <dgm:pt modelId="{092BAEF3-D9F2-476B-9A0B-6F14CC814529}" type="sibTrans" cxnId="{A22BDB9A-90BB-4DA2-8850-00D4F1D3B898}">
      <dgm:prSet/>
      <dgm:spPr/>
      <dgm:t>
        <a:bodyPr/>
        <a:lstStyle/>
        <a:p>
          <a:endParaRPr lang="en-US"/>
        </a:p>
      </dgm:t>
    </dgm:pt>
    <dgm:pt modelId="{5248D9DA-6444-46F6-8D28-C8BB2253AAD1}">
      <dgm:prSet phldrT="[Text]"/>
      <dgm:spPr/>
      <dgm:t>
        <a:bodyPr/>
        <a:lstStyle/>
        <a:p>
          <a:pPr>
            <a:buNone/>
          </a:pPr>
          <a:r>
            <a:rPr lang="en-IN" dirty="0"/>
            <a:t>Orders, Order Items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 title="Step 2 - task description"/>
        </a:ext>
      </dgm:extLst>
    </dgm:pt>
    <dgm:pt modelId="{A8533F77-F094-4EDB-BCC7-35E0D6A46B71}" type="parTrans" cxnId="{35AF286C-A401-4C08-B8A3-F38B03322BD8}">
      <dgm:prSet/>
      <dgm:spPr/>
      <dgm:t>
        <a:bodyPr/>
        <a:lstStyle/>
        <a:p>
          <a:endParaRPr lang="en-US"/>
        </a:p>
      </dgm:t>
    </dgm:pt>
    <dgm:pt modelId="{011B552E-515A-4C41-B810-0D2552861422}" type="sibTrans" cxnId="{35AF286C-A401-4C08-B8A3-F38B03322BD8}">
      <dgm:prSet/>
      <dgm:spPr/>
      <dgm:t>
        <a:bodyPr/>
        <a:lstStyle/>
        <a:p>
          <a:endParaRPr lang="en-US"/>
        </a:p>
      </dgm:t>
    </dgm:pt>
    <dgm:pt modelId="{3A9B5D84-CB00-4BC9-ADB2-5CF832F36763}">
      <dgm:prSet phldrT="[Text]"/>
      <dgm:spPr/>
      <dgm:t>
        <a:bodyPr/>
        <a:lstStyle/>
        <a:p>
          <a:r>
            <a:rPr lang="en-US" b="1" dirty="0"/>
            <a:t>Relationships</a:t>
          </a:r>
        </a:p>
      </dgm:t>
      <dgm:extLst>
        <a:ext uri="{E40237B7-FDA0-4F09-8148-C483321AD2D9}">
          <dgm14:cNvPr xmlns:dgm14="http://schemas.microsoft.com/office/drawing/2010/diagram" id="0" name="" title="Step 3 - task description"/>
        </a:ext>
      </dgm:extLst>
    </dgm:pt>
    <dgm:pt modelId="{BD57EC4A-052D-4824-8820-064BAC997A9B}" type="parTrans" cxnId="{11A0AF47-4BCA-470E-92BF-7B388FFB0DE8}">
      <dgm:prSet/>
      <dgm:spPr/>
      <dgm:t>
        <a:bodyPr/>
        <a:lstStyle/>
        <a:p>
          <a:endParaRPr lang="en-US"/>
        </a:p>
      </dgm:t>
    </dgm:pt>
    <dgm:pt modelId="{98E878CF-4A49-4E76-BD23-AE7C5290BAFD}" type="sibTrans" cxnId="{11A0AF47-4BCA-470E-92BF-7B388FFB0DE8}">
      <dgm:prSet/>
      <dgm:spPr/>
      <dgm:t>
        <a:bodyPr/>
        <a:lstStyle/>
        <a:p>
          <a:endParaRPr lang="en-US"/>
        </a:p>
      </dgm:t>
    </dgm:pt>
    <dgm:pt modelId="{8734DFB3-ADD8-4FD2-87D8-1981AA0ADD0B}" type="pres">
      <dgm:prSet presAssocID="{FBA29113-7A70-4E0E-B036-871C49B835F1}" presName="theList" presStyleCnt="0">
        <dgm:presLayoutVars>
          <dgm:dir/>
          <dgm:animLvl val="lvl"/>
          <dgm:resizeHandles val="exact"/>
        </dgm:presLayoutVars>
      </dgm:prSet>
      <dgm:spPr/>
    </dgm:pt>
    <dgm:pt modelId="{5C04AEFB-7132-4B28-A7D3-862245070A8D}" type="pres">
      <dgm:prSet presAssocID="{A6406C01-7E83-4650-8EF5-394419DCB348}" presName="compNode" presStyleCnt="0"/>
      <dgm:spPr/>
    </dgm:pt>
    <dgm:pt modelId="{358F74AC-FC7D-465B-BD12-B6CCC00F3D29}" type="pres">
      <dgm:prSet presAssocID="{A6406C01-7E83-4650-8EF5-394419DCB348}" presName="noGeometry" presStyleCnt="0"/>
      <dgm:spPr/>
    </dgm:pt>
    <dgm:pt modelId="{610B5FFC-C0C9-444C-9F7A-14D1B54F604D}" type="pres">
      <dgm:prSet presAssocID="{A6406C01-7E83-4650-8EF5-394419DCB348}" presName="childTextVisible" presStyleLbl="bgAccFollowNode1" presStyleIdx="0" presStyleCnt="3">
        <dgm:presLayoutVars>
          <dgm:bulletEnabled val="1"/>
        </dgm:presLayoutVars>
      </dgm:prSet>
      <dgm:spPr/>
    </dgm:pt>
    <dgm:pt modelId="{FB705FC1-639E-4064-8E9A-A79870DE5273}" type="pres">
      <dgm:prSet presAssocID="{A6406C01-7E83-4650-8EF5-394419DCB348}" presName="childTextHidden" presStyleLbl="bgAccFollowNode1" presStyleIdx="0" presStyleCnt="3"/>
      <dgm:spPr/>
    </dgm:pt>
    <dgm:pt modelId="{47DA5750-48DC-4E4F-815D-0B05DBC30DAB}" type="pres">
      <dgm:prSet presAssocID="{A6406C01-7E83-4650-8EF5-394419DCB34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319C676-A7DE-4777-9BB4-3B6D30ED3F5C}" type="pres">
      <dgm:prSet presAssocID="{A6406C01-7E83-4650-8EF5-394419DCB348}" presName="aSpace" presStyleCnt="0"/>
      <dgm:spPr/>
    </dgm:pt>
    <dgm:pt modelId="{CA708D38-D093-4C16-A955-CF2CAC7F0A99}" type="pres">
      <dgm:prSet presAssocID="{5D952622-A79E-41E4-BBC2-6212DEFFA91C}" presName="compNode" presStyleCnt="0"/>
      <dgm:spPr/>
    </dgm:pt>
    <dgm:pt modelId="{6F3066E9-E96F-489D-8A4B-6D55FBE389F2}" type="pres">
      <dgm:prSet presAssocID="{5D952622-A79E-41E4-BBC2-6212DEFFA91C}" presName="noGeometry" presStyleCnt="0"/>
      <dgm:spPr/>
    </dgm:pt>
    <dgm:pt modelId="{00D2DC2C-7CA2-4A4B-B66D-3DDCAB7DC8E9}" type="pres">
      <dgm:prSet presAssocID="{5D952622-A79E-41E4-BBC2-6212DEFFA91C}" presName="childTextVisible" presStyleLbl="bgAccFollowNode1" presStyleIdx="1" presStyleCnt="3">
        <dgm:presLayoutVars>
          <dgm:bulletEnabled val="1"/>
        </dgm:presLayoutVars>
      </dgm:prSet>
      <dgm:spPr/>
    </dgm:pt>
    <dgm:pt modelId="{072FB640-0A28-40E8-9C0C-86BAF45C6EF0}" type="pres">
      <dgm:prSet presAssocID="{5D952622-A79E-41E4-BBC2-6212DEFFA91C}" presName="childTextHidden" presStyleLbl="bgAccFollowNode1" presStyleIdx="1" presStyleCnt="3"/>
      <dgm:spPr/>
    </dgm:pt>
    <dgm:pt modelId="{EE8733A1-7662-4D0A-B39E-2218596CC81C}" type="pres">
      <dgm:prSet presAssocID="{5D952622-A79E-41E4-BBC2-6212DEFFA91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0D7C734-E391-436F-996C-E60442F50A17}" type="pres">
      <dgm:prSet presAssocID="{5D952622-A79E-41E4-BBC2-6212DEFFA91C}" presName="aSpace" presStyleCnt="0"/>
      <dgm:spPr/>
    </dgm:pt>
    <dgm:pt modelId="{15772E93-C18C-48F5-94F0-18779C86B033}" type="pres">
      <dgm:prSet presAssocID="{3A9B5D84-CB00-4BC9-ADB2-5CF832F36763}" presName="compNode" presStyleCnt="0"/>
      <dgm:spPr/>
    </dgm:pt>
    <dgm:pt modelId="{E76E16AD-3521-4822-8D67-49F864155787}" type="pres">
      <dgm:prSet presAssocID="{3A9B5D84-CB00-4BC9-ADB2-5CF832F36763}" presName="noGeometry" presStyleCnt="0"/>
      <dgm:spPr/>
    </dgm:pt>
    <dgm:pt modelId="{C36474FF-6867-403C-80A9-D4557CCE69F2}" type="pres">
      <dgm:prSet presAssocID="{3A9B5D84-CB00-4BC9-ADB2-5CF832F36763}" presName="childTextVisible" presStyleLbl="bgAccFollowNode1" presStyleIdx="2" presStyleCnt="3">
        <dgm:presLayoutVars>
          <dgm:bulletEnabled val="1"/>
        </dgm:presLayoutVars>
      </dgm:prSet>
      <dgm:spPr/>
    </dgm:pt>
    <dgm:pt modelId="{B61AB684-F3C6-4399-B71E-A9E4A7444BEE}" type="pres">
      <dgm:prSet presAssocID="{3A9B5D84-CB00-4BC9-ADB2-5CF832F36763}" presName="childTextHidden" presStyleLbl="bgAccFollowNode1" presStyleIdx="2" presStyleCnt="3"/>
      <dgm:spPr/>
    </dgm:pt>
    <dgm:pt modelId="{2720C139-71C7-4093-8BEB-AE5322DFC04C}" type="pres">
      <dgm:prSet presAssocID="{3A9B5D84-CB00-4BC9-ADB2-5CF832F36763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D17FB23A-CAA0-4BBD-B866-080064FF7E15}" type="presOf" srcId="{3A9B5D84-CB00-4BC9-ADB2-5CF832F36763}" destId="{2720C139-71C7-4093-8BEB-AE5322DFC04C}" srcOrd="0" destOrd="0" presId="urn:microsoft.com/office/officeart/2005/8/layout/hProcess6"/>
    <dgm:cxn modelId="{571B835C-B622-42C9-A536-83041B8B6434}" type="presOf" srcId="{A6406C01-7E83-4650-8EF5-394419DCB348}" destId="{47DA5750-48DC-4E4F-815D-0B05DBC30DAB}" srcOrd="0" destOrd="0" presId="urn:microsoft.com/office/officeart/2005/8/layout/hProcess6"/>
    <dgm:cxn modelId="{4E49BD60-40DD-4E9F-9DF7-4B7755281259}" type="presOf" srcId="{5248D9DA-6444-46F6-8D28-C8BB2253AAD1}" destId="{072FB640-0A28-40E8-9C0C-86BAF45C6EF0}" srcOrd="1" destOrd="0" presId="urn:microsoft.com/office/officeart/2005/8/layout/hProcess6"/>
    <dgm:cxn modelId="{7642BC45-DE54-4803-9BF7-165DF85D0B44}" type="presOf" srcId="{E4E9F0D0-FF23-4B59-9B97-973BCBE5DC65}" destId="{FB705FC1-639E-4064-8E9A-A79870DE5273}" srcOrd="1" destOrd="0" presId="urn:microsoft.com/office/officeart/2005/8/layout/hProcess6"/>
    <dgm:cxn modelId="{6F8CCC65-8142-4AF8-8A94-E8DF85FCE988}" type="presOf" srcId="{5D952622-A79E-41E4-BBC2-6212DEFFA91C}" destId="{EE8733A1-7662-4D0A-B39E-2218596CC81C}" srcOrd="0" destOrd="0" presId="urn:microsoft.com/office/officeart/2005/8/layout/hProcess6"/>
    <dgm:cxn modelId="{31498E67-CEA0-4571-B7AB-26A2113144F6}" type="presOf" srcId="{FBA29113-7A70-4E0E-B036-871C49B835F1}" destId="{8734DFB3-ADD8-4FD2-87D8-1981AA0ADD0B}" srcOrd="0" destOrd="0" presId="urn:microsoft.com/office/officeart/2005/8/layout/hProcess6"/>
    <dgm:cxn modelId="{11A0AF47-4BCA-470E-92BF-7B388FFB0DE8}" srcId="{FBA29113-7A70-4E0E-B036-871C49B835F1}" destId="{3A9B5D84-CB00-4BC9-ADB2-5CF832F36763}" srcOrd="2" destOrd="0" parTransId="{BD57EC4A-052D-4824-8820-064BAC997A9B}" sibTransId="{98E878CF-4A49-4E76-BD23-AE7C5290BAFD}"/>
    <dgm:cxn modelId="{35AF286C-A401-4C08-B8A3-F38B03322BD8}" srcId="{5D952622-A79E-41E4-BBC2-6212DEFFA91C}" destId="{5248D9DA-6444-46F6-8D28-C8BB2253AAD1}" srcOrd="0" destOrd="0" parTransId="{A8533F77-F094-4EDB-BCC7-35E0D6A46B71}" sibTransId="{011B552E-515A-4C41-B810-0D2552861422}"/>
    <dgm:cxn modelId="{C7734375-C1C3-4E88-B87B-E15476EBAD86}" type="presOf" srcId="{E4E9F0D0-FF23-4B59-9B97-973BCBE5DC65}" destId="{610B5FFC-C0C9-444C-9F7A-14D1B54F604D}" srcOrd="0" destOrd="0" presId="urn:microsoft.com/office/officeart/2005/8/layout/hProcess6"/>
    <dgm:cxn modelId="{51C6C789-728A-408F-B72A-1B205EAFC226}" type="presOf" srcId="{5248D9DA-6444-46F6-8D28-C8BB2253AAD1}" destId="{00D2DC2C-7CA2-4A4B-B66D-3DDCAB7DC8E9}" srcOrd="0" destOrd="0" presId="urn:microsoft.com/office/officeart/2005/8/layout/hProcess6"/>
    <dgm:cxn modelId="{4D956F8D-5727-488A-93AF-F33602655A44}" srcId="{FBA29113-7A70-4E0E-B036-871C49B835F1}" destId="{A6406C01-7E83-4650-8EF5-394419DCB348}" srcOrd="0" destOrd="0" parTransId="{2586B3BB-DA8B-42DF-AC9A-77CE21607FD0}" sibTransId="{7C5B61F0-A4F6-4FCA-B552-36151F31051E}"/>
    <dgm:cxn modelId="{37A3A996-9723-4BDB-8959-9D9B7799BD9A}" srcId="{A6406C01-7E83-4650-8EF5-394419DCB348}" destId="{E4E9F0D0-FF23-4B59-9B97-973BCBE5DC65}" srcOrd="0" destOrd="0" parTransId="{E9237435-F938-45D4-8BF4-6D5D4DFF850F}" sibTransId="{D32B195A-7CAD-474B-B79C-BE4BB171E742}"/>
    <dgm:cxn modelId="{A22BDB9A-90BB-4DA2-8850-00D4F1D3B898}" srcId="{FBA29113-7A70-4E0E-B036-871C49B835F1}" destId="{5D952622-A79E-41E4-BBC2-6212DEFFA91C}" srcOrd="1" destOrd="0" parTransId="{10627A68-BE4B-4A4A-9EC9-4CFEF1E4DF39}" sibTransId="{092BAEF3-D9F2-476B-9A0B-6F14CC814529}"/>
    <dgm:cxn modelId="{C49B402A-E190-4E33-932D-45CB012FF585}" type="presParOf" srcId="{8734DFB3-ADD8-4FD2-87D8-1981AA0ADD0B}" destId="{5C04AEFB-7132-4B28-A7D3-862245070A8D}" srcOrd="0" destOrd="0" presId="urn:microsoft.com/office/officeart/2005/8/layout/hProcess6"/>
    <dgm:cxn modelId="{32569D64-B02C-4FAC-AAE9-C768CBC48C92}" type="presParOf" srcId="{5C04AEFB-7132-4B28-A7D3-862245070A8D}" destId="{358F74AC-FC7D-465B-BD12-B6CCC00F3D29}" srcOrd="0" destOrd="0" presId="urn:microsoft.com/office/officeart/2005/8/layout/hProcess6"/>
    <dgm:cxn modelId="{CB08B8D5-C242-4B2E-AD63-63EE1843BCEE}" type="presParOf" srcId="{5C04AEFB-7132-4B28-A7D3-862245070A8D}" destId="{610B5FFC-C0C9-444C-9F7A-14D1B54F604D}" srcOrd="1" destOrd="0" presId="urn:microsoft.com/office/officeart/2005/8/layout/hProcess6"/>
    <dgm:cxn modelId="{F2D49FC6-3B51-4CF5-9727-8047EC6A2442}" type="presParOf" srcId="{5C04AEFB-7132-4B28-A7D3-862245070A8D}" destId="{FB705FC1-639E-4064-8E9A-A79870DE5273}" srcOrd="2" destOrd="0" presId="urn:microsoft.com/office/officeart/2005/8/layout/hProcess6"/>
    <dgm:cxn modelId="{BF984201-3451-448C-A5D1-6E7197205D03}" type="presParOf" srcId="{5C04AEFB-7132-4B28-A7D3-862245070A8D}" destId="{47DA5750-48DC-4E4F-815D-0B05DBC30DAB}" srcOrd="3" destOrd="0" presId="urn:microsoft.com/office/officeart/2005/8/layout/hProcess6"/>
    <dgm:cxn modelId="{71CCDECE-5F51-4234-A2BA-DCB150AA79ED}" type="presParOf" srcId="{8734DFB3-ADD8-4FD2-87D8-1981AA0ADD0B}" destId="{6319C676-A7DE-4777-9BB4-3B6D30ED3F5C}" srcOrd="1" destOrd="0" presId="urn:microsoft.com/office/officeart/2005/8/layout/hProcess6"/>
    <dgm:cxn modelId="{5D112752-1B3A-414A-B666-ECB3146B77FD}" type="presParOf" srcId="{8734DFB3-ADD8-4FD2-87D8-1981AA0ADD0B}" destId="{CA708D38-D093-4C16-A955-CF2CAC7F0A99}" srcOrd="2" destOrd="0" presId="urn:microsoft.com/office/officeart/2005/8/layout/hProcess6"/>
    <dgm:cxn modelId="{2A93D533-0010-43F2-A6FD-60A448800D47}" type="presParOf" srcId="{CA708D38-D093-4C16-A955-CF2CAC7F0A99}" destId="{6F3066E9-E96F-489D-8A4B-6D55FBE389F2}" srcOrd="0" destOrd="0" presId="urn:microsoft.com/office/officeart/2005/8/layout/hProcess6"/>
    <dgm:cxn modelId="{0BF12E79-D91B-409F-BE66-EA2491139C9E}" type="presParOf" srcId="{CA708D38-D093-4C16-A955-CF2CAC7F0A99}" destId="{00D2DC2C-7CA2-4A4B-B66D-3DDCAB7DC8E9}" srcOrd="1" destOrd="0" presId="urn:microsoft.com/office/officeart/2005/8/layout/hProcess6"/>
    <dgm:cxn modelId="{530BBD57-8829-4325-AFBA-D1FC7D44935D}" type="presParOf" srcId="{CA708D38-D093-4C16-A955-CF2CAC7F0A99}" destId="{072FB640-0A28-40E8-9C0C-86BAF45C6EF0}" srcOrd="2" destOrd="0" presId="urn:microsoft.com/office/officeart/2005/8/layout/hProcess6"/>
    <dgm:cxn modelId="{01D98535-9231-422E-ACDB-E601C449739A}" type="presParOf" srcId="{CA708D38-D093-4C16-A955-CF2CAC7F0A99}" destId="{EE8733A1-7662-4D0A-B39E-2218596CC81C}" srcOrd="3" destOrd="0" presId="urn:microsoft.com/office/officeart/2005/8/layout/hProcess6"/>
    <dgm:cxn modelId="{479EF3E4-55E6-408C-BAE7-AE356D7A3A99}" type="presParOf" srcId="{8734DFB3-ADD8-4FD2-87D8-1981AA0ADD0B}" destId="{E0D7C734-E391-436F-996C-E60442F50A17}" srcOrd="3" destOrd="0" presId="urn:microsoft.com/office/officeart/2005/8/layout/hProcess6"/>
    <dgm:cxn modelId="{48F21149-7288-4822-99C7-4C6382D2C75B}" type="presParOf" srcId="{8734DFB3-ADD8-4FD2-87D8-1981AA0ADD0B}" destId="{15772E93-C18C-48F5-94F0-18779C86B033}" srcOrd="4" destOrd="0" presId="urn:microsoft.com/office/officeart/2005/8/layout/hProcess6"/>
    <dgm:cxn modelId="{A0E461DE-7692-4270-AD85-CBF8AAAEEEE6}" type="presParOf" srcId="{15772E93-C18C-48F5-94F0-18779C86B033}" destId="{E76E16AD-3521-4822-8D67-49F864155787}" srcOrd="0" destOrd="0" presId="urn:microsoft.com/office/officeart/2005/8/layout/hProcess6"/>
    <dgm:cxn modelId="{17577FEC-13F3-478E-B9F5-E70B6ED6F92E}" type="presParOf" srcId="{15772E93-C18C-48F5-94F0-18779C86B033}" destId="{C36474FF-6867-403C-80A9-D4557CCE69F2}" srcOrd="1" destOrd="0" presId="urn:microsoft.com/office/officeart/2005/8/layout/hProcess6"/>
    <dgm:cxn modelId="{193D24E7-058A-4DA0-B6A8-B6A3FE6DD76C}" type="presParOf" srcId="{15772E93-C18C-48F5-94F0-18779C86B033}" destId="{B61AB684-F3C6-4399-B71E-A9E4A7444BEE}" srcOrd="2" destOrd="0" presId="urn:microsoft.com/office/officeart/2005/8/layout/hProcess6"/>
    <dgm:cxn modelId="{9C637B56-E3FB-4F88-93B7-07B20D4D9780}" type="presParOf" srcId="{15772E93-C18C-48F5-94F0-18779C86B033}" destId="{2720C139-71C7-4093-8BEB-AE5322DFC04C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B5FFC-C0C9-444C-9F7A-14D1B54F604D}">
      <dsp:nvSpPr>
        <dsp:cNvPr id="0" name=""/>
        <dsp:cNvSpPr/>
      </dsp:nvSpPr>
      <dsp:spPr>
        <a:xfrm>
          <a:off x="623515" y="823134"/>
          <a:ext cx="2475309" cy="2163731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2159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Users, Menu, Categories, Time Slots</a:t>
          </a:r>
        </a:p>
      </dsp:txBody>
      <dsp:txXfrm>
        <a:off x="1242342" y="1147694"/>
        <a:ext cx="1206713" cy="1514611"/>
      </dsp:txXfrm>
    </dsp:sp>
    <dsp:sp modelId="{47DA5750-48DC-4E4F-815D-0B05DBC30DAB}">
      <dsp:nvSpPr>
        <dsp:cNvPr id="0" name=""/>
        <dsp:cNvSpPr/>
      </dsp:nvSpPr>
      <dsp:spPr>
        <a:xfrm>
          <a:off x="4688" y="1286172"/>
          <a:ext cx="1237654" cy="12376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Core Tables</a:t>
          </a:r>
        </a:p>
      </dsp:txBody>
      <dsp:txXfrm>
        <a:off x="185938" y="1467422"/>
        <a:ext cx="875154" cy="875154"/>
      </dsp:txXfrm>
    </dsp:sp>
    <dsp:sp modelId="{00D2DC2C-7CA2-4A4B-B66D-3DDCAB7DC8E9}">
      <dsp:nvSpPr>
        <dsp:cNvPr id="0" name=""/>
        <dsp:cNvSpPr/>
      </dsp:nvSpPr>
      <dsp:spPr>
        <a:xfrm>
          <a:off x="3872358" y="823134"/>
          <a:ext cx="2475309" cy="2163731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2159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Orders, Order Items</a:t>
          </a:r>
          <a:endParaRPr lang="en-US" sz="1700" kern="1200" dirty="0"/>
        </a:p>
      </dsp:txBody>
      <dsp:txXfrm>
        <a:off x="4491186" y="1147694"/>
        <a:ext cx="1206713" cy="1514611"/>
      </dsp:txXfrm>
    </dsp:sp>
    <dsp:sp modelId="{EE8733A1-7662-4D0A-B39E-2218596CC81C}">
      <dsp:nvSpPr>
        <dsp:cNvPr id="0" name=""/>
        <dsp:cNvSpPr/>
      </dsp:nvSpPr>
      <dsp:spPr>
        <a:xfrm>
          <a:off x="3253531" y="1286172"/>
          <a:ext cx="1237654" cy="12376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Transaction Tables</a:t>
          </a:r>
        </a:p>
      </dsp:txBody>
      <dsp:txXfrm>
        <a:off x="3434781" y="1467422"/>
        <a:ext cx="875154" cy="875154"/>
      </dsp:txXfrm>
    </dsp:sp>
    <dsp:sp modelId="{C36474FF-6867-403C-80A9-D4557CCE69F2}">
      <dsp:nvSpPr>
        <dsp:cNvPr id="0" name=""/>
        <dsp:cNvSpPr/>
      </dsp:nvSpPr>
      <dsp:spPr>
        <a:xfrm>
          <a:off x="7121202" y="823134"/>
          <a:ext cx="2475309" cy="2163731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0C139-71C7-4093-8BEB-AE5322DFC04C}">
      <dsp:nvSpPr>
        <dsp:cNvPr id="0" name=""/>
        <dsp:cNvSpPr/>
      </dsp:nvSpPr>
      <dsp:spPr>
        <a:xfrm>
          <a:off x="6502375" y="1286172"/>
          <a:ext cx="1237654" cy="12376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Relationships</a:t>
          </a:r>
        </a:p>
      </dsp:txBody>
      <dsp:txXfrm>
        <a:off x="6683625" y="1467422"/>
        <a:ext cx="875154" cy="875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E63C-BD9D-8A2D-0056-AFBD5ECC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4E07B-14C4-2D30-584F-E92A3585C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4C1FC-678F-7187-1965-040FCAC62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0C002-B190-2082-5344-9492718BB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7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4/10/2026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910054"/>
            <a:ext cx="9604310" cy="416887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sz="8900" dirty="0" err="1"/>
              <a:t>Foodly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sz="5300" dirty="0"/>
              <a:t>A Project On Digital Canteen Pre-Ordering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90746"/>
            <a:ext cx="9604310" cy="128597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Submitted by 					Under the guidance of</a:t>
            </a:r>
          </a:p>
          <a:p>
            <a:endParaRPr lang="en-US" dirty="0"/>
          </a:p>
          <a:p>
            <a:r>
              <a:rPr lang="en-US" dirty="0"/>
              <a:t>Shruti Bhargav  (23048985)			Mr. Amrit Sagar Gupta</a:t>
            </a:r>
          </a:p>
          <a:p>
            <a:r>
              <a:rPr lang="en-US" dirty="0"/>
              <a:t>Janvi Sahni  (23048927)				Ms. Neha Arora</a:t>
            </a:r>
          </a:p>
          <a:p>
            <a:r>
              <a:rPr lang="en-US" dirty="0"/>
              <a:t>B.C.A 6</a:t>
            </a:r>
            <a:r>
              <a:rPr lang="en-US" baseline="30000" dirty="0"/>
              <a:t>th</a:t>
            </a:r>
            <a:r>
              <a:rPr lang="en-US" dirty="0"/>
              <a:t> Semester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94BF5-ED9D-DE1C-0581-EB47DDE65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20" t="17012" r="71497" b="23859"/>
          <a:stretch>
            <a:fillRect/>
          </a:stretch>
        </p:blipFill>
        <p:spPr>
          <a:xfrm>
            <a:off x="1482828" y="2134334"/>
            <a:ext cx="705900" cy="669687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39921"/>
            <a:ext cx="9601200" cy="67087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22400"/>
            <a:ext cx="9601200" cy="446024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Traditional canteen system is manual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 	Current canteen operations rely entirely on manual processes, leading to inefficiency and 	human errors.</a:t>
            </a:r>
          </a:p>
          <a:p>
            <a:r>
              <a:rPr lang="en-US" b="1" dirty="0"/>
              <a:t>Students face long queues and delays</a:t>
            </a:r>
          </a:p>
          <a:p>
            <a:pPr marL="0" indent="0">
              <a:buNone/>
            </a:pPr>
            <a:r>
              <a:rPr lang="en-US" sz="1800" dirty="0"/>
              <a:t>	Students lose valuable time waiting in long lines, disrupting their academic schedules.</a:t>
            </a:r>
          </a:p>
          <a:p>
            <a:r>
              <a:rPr lang="en-US" b="1" dirty="0"/>
              <a:t>No proper order tracking system</a:t>
            </a:r>
          </a:p>
          <a:p>
            <a:pPr marL="0" indent="0">
              <a:buNone/>
            </a:pPr>
            <a:r>
              <a:rPr lang="en-US" sz="1800" dirty="0"/>
              <a:t>	The absence of a tracking mechanism leaves students with no visibility into their order status.</a:t>
            </a:r>
          </a:p>
          <a:p>
            <a:r>
              <a:rPr lang="en-US" b="1" dirty="0"/>
              <a:t>Food wastage due to poor planning</a:t>
            </a:r>
          </a:p>
          <a:p>
            <a:pPr marL="0" indent="0">
              <a:buNone/>
            </a:pPr>
            <a:r>
              <a:rPr lang="en-US" sz="1800" dirty="0"/>
              <a:t>	Without demand forecasting, excess food is prepared daily, resulting in significant wastage.</a:t>
            </a:r>
          </a:p>
          <a:p>
            <a:r>
              <a:rPr lang="en-US" b="1" dirty="0"/>
              <a:t>Need for a digital solution</a:t>
            </a:r>
          </a:p>
          <a:p>
            <a:pPr marL="0" indent="0">
              <a:buNone/>
            </a:pPr>
            <a:r>
              <a:rPr lang="en-US" sz="1800" dirty="0"/>
              <a:t>	A smart, digital canteen system is essential to streamline operations and enhance the overall student 	experience.</a:t>
            </a:r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9EE3-8B93-3B25-BD7D-BBB56CA4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A057-C858-7EA8-9D3F-6353D128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39921"/>
            <a:ext cx="9601200" cy="670878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1BA09-1C45-266C-5762-811615666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22400"/>
            <a:ext cx="9601200" cy="446024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Overcrowding during peak hours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Rush hours create chaos, making the canteen unmanageable.</a:t>
            </a:r>
          </a:p>
          <a:p>
            <a:r>
              <a:rPr lang="en-US" b="1" dirty="0"/>
              <a:t> Time wastage in queues</a:t>
            </a:r>
          </a:p>
          <a:p>
            <a:pPr marL="0" indent="0">
              <a:buNone/>
            </a:pPr>
            <a:r>
              <a:rPr lang="en-US" dirty="0"/>
              <a:t>	Long waits cut into students' valuable break time.</a:t>
            </a:r>
          </a:p>
          <a:p>
            <a:r>
              <a:rPr lang="en-US" b="1" dirty="0"/>
              <a:t>Manual errors in order handling</a:t>
            </a:r>
          </a:p>
          <a:p>
            <a:pPr marL="0" indent="0">
              <a:buNone/>
            </a:pPr>
            <a:r>
              <a:rPr lang="en-US" dirty="0"/>
              <a:t>	Human handling leads to frequent wrong or missed orders.</a:t>
            </a:r>
          </a:p>
          <a:p>
            <a:r>
              <a:rPr lang="en-US" b="1" dirty="0"/>
              <a:t>No accountability for unpicked orders</a:t>
            </a:r>
          </a:p>
          <a:p>
            <a:pPr marL="0" indent="0">
              <a:buNone/>
            </a:pPr>
            <a:r>
              <a:rPr lang="en-US" dirty="0"/>
              <a:t>	Uncollected orders cause waste and financial loss.</a:t>
            </a:r>
          </a:p>
          <a:p>
            <a:r>
              <a:rPr lang="en-US" b="1" dirty="0"/>
              <a:t>Lack of data analytics</a:t>
            </a:r>
          </a:p>
          <a:p>
            <a:pPr marL="0" indent="0">
              <a:buNone/>
            </a:pPr>
            <a:r>
              <a:rPr lang="en-US" dirty="0"/>
              <a:t>	No insights means poor planning and uninformed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634225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93A4-C8A9-1D85-4594-CB3FD537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40080"/>
            <a:ext cx="6649720" cy="690880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70DC0-A428-13F4-5178-0D1C9B819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720" y="1040448"/>
            <a:ext cx="2601823" cy="4585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A41CBC-67D5-320B-418F-59F3A68931CB}"/>
              </a:ext>
            </a:extLst>
          </p:cNvPr>
          <p:cNvSpPr txBox="1"/>
          <p:nvPr/>
        </p:nvSpPr>
        <p:spPr>
          <a:xfrm>
            <a:off x="1290320" y="1859280"/>
            <a:ext cx="570992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/>
              <a:t>Web-based canteen pre-ordering system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/>
              <a:t>Students can order food in advance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/>
              <a:t>Time-slot based pickup system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/>
              <a:t>Token-based order management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en-US" sz="2400" dirty="0"/>
              <a:t>Real-time order tracking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8907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E4A761-7D98-D19F-36BD-EC6BB3FC7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74707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0E037-A34A-C360-B0AE-1A1EA8EAB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52881"/>
            <a:ext cx="9601200" cy="433832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Reduce congestion and waiting time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Improve order management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Enable time-slot based pickup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Provide real-time order tracking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Minimize food wastage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Improve operational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766147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30AE2-9B93-B6E9-6D98-F66EA4754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270001"/>
            <a:ext cx="9601200" cy="45212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User-friendly web application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Simple and intuitive interface for easy navigation by all users.</a:t>
            </a:r>
            <a:endParaRPr lang="en-IN" dirty="0"/>
          </a:p>
          <a:p>
            <a:r>
              <a:rPr lang="en-IN" b="1" dirty="0"/>
              <a:t>Two modules: Student &amp; </a:t>
            </a:r>
            <a:r>
              <a:rPr lang="en-IN" b="1" dirty="0" err="1"/>
              <a:t>AdminDatabase</a:t>
            </a:r>
            <a:r>
              <a:rPr lang="en-IN" b="1" dirty="0"/>
              <a:t>-driven system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Separate panels for students to order and admins to manage operations.</a:t>
            </a:r>
            <a:endParaRPr lang="en-IN" dirty="0"/>
          </a:p>
          <a:p>
            <a:r>
              <a:rPr lang="en-IN" b="1" dirty="0"/>
              <a:t>Responsive design (mobile + desktop)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Fully accessible across all devices without compromising usability.</a:t>
            </a:r>
            <a:endParaRPr lang="en-IN" dirty="0"/>
          </a:p>
          <a:p>
            <a:r>
              <a:rPr lang="en-IN" b="1" dirty="0"/>
              <a:t>Database-driven System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All data is stored and retrieved efficiently using a structured database.</a:t>
            </a:r>
            <a:endParaRPr lang="en-IN" dirty="0"/>
          </a:p>
          <a:p>
            <a:r>
              <a:rPr lang="en-IN" b="1" dirty="0"/>
              <a:t>Real-time updates using AJAX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Orders and status updates reflect instantly without page refresh.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527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Module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52FB23-FB2D-560B-A462-27B0C2804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3152" y="3030555"/>
            <a:ext cx="3692423" cy="2374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618EA4-DF68-2C34-F9A5-9668CDAD05C2}"/>
              </a:ext>
            </a:extLst>
          </p:cNvPr>
          <p:cNvSpPr txBox="1"/>
          <p:nvPr/>
        </p:nvSpPr>
        <p:spPr>
          <a:xfrm>
            <a:off x="477520" y="843677"/>
            <a:ext cx="606552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Registration &amp; Login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Secure sign-up and login to access personalized ordering features.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View Menu Items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Browse available food items with details and pricing in real-time.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Add to Cart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Easily select and manage desired items before placing the order.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Select Time Slot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Choose a preferred pickup time to avoid queues and crowding.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Place Order &amp; Get Token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Confirm the order and receive a unique token for pickup identification.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Track Order Status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Monitor order progress in real-time from placed to ready.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5F021C6-2BA6-900D-7E64-48FCBC291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3717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60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Module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27359D2-1D53-8461-4882-8C3105068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197" y="1382287"/>
            <a:ext cx="640624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Menu Items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edit, or remove food items and update pricing effortlessly.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Time Slots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and control available pickup slots to regulate crowd flow.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Order Status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 orders as preparing, ready, or completed in real-time.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Daily Orders &amp; Revenue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summarized reports of orders and earnings for the day.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Unpicked Orders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and flag uncollected orders to reduce waste and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FCE2AC-D6BD-571B-1440-49EB004E1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52" y="3032311"/>
            <a:ext cx="3657600" cy="22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0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9D99D-2966-5F1E-5150-0CF851FAF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Time-slot based ordering</a:t>
            </a:r>
          </a:p>
          <a:p>
            <a:r>
              <a:rPr lang="en-US" dirty="0"/>
              <a:t>Automatic token generation</a:t>
            </a:r>
          </a:p>
          <a:p>
            <a:r>
              <a:rPr lang="en-US" dirty="0"/>
              <a:t>Real-time status tracking</a:t>
            </a:r>
          </a:p>
          <a:p>
            <a:r>
              <a:rPr lang="en-US" dirty="0"/>
              <a:t>Slot capacity control</a:t>
            </a:r>
          </a:p>
          <a:p>
            <a:r>
              <a:rPr lang="en-US" dirty="0"/>
              <a:t>“Forgot Anything?” timer</a:t>
            </a:r>
          </a:p>
          <a:p>
            <a:r>
              <a:rPr lang="en-US" dirty="0"/>
              <a:t>Duplicate order prevention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999827"/>
          </a:xfrm>
        </p:spPr>
        <p:txBody>
          <a:bodyPr/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2844523"/>
              </p:ext>
            </p:extLst>
          </p:nvPr>
        </p:nvGraphicFramePr>
        <p:xfrm>
          <a:off x="1851660" y="1969064"/>
          <a:ext cx="8488680" cy="355797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28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9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9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HTML, CSS, Bootstrap, JavaScript, jQuery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XAMPP (Apache)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requirements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EE6235-B701-B8A2-266A-112DE880A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Hardware:</a:t>
            </a:r>
          </a:p>
          <a:p>
            <a:pPr marL="0" indent="0">
              <a:buNone/>
            </a:pPr>
            <a:r>
              <a:rPr lang="en-IN" dirty="0"/>
              <a:t>	Computer/Laptop</a:t>
            </a:r>
          </a:p>
          <a:p>
            <a:pPr marL="0" indent="0">
              <a:buNone/>
            </a:pPr>
            <a:r>
              <a:rPr lang="en-IN" dirty="0"/>
              <a:t>	Minimum 4GB RAM</a:t>
            </a:r>
          </a:p>
          <a:p>
            <a:pPr marL="0" indent="0">
              <a:buNone/>
            </a:pPr>
            <a:r>
              <a:rPr lang="en-IN" dirty="0"/>
              <a:t>	Internet access</a:t>
            </a:r>
          </a:p>
          <a:p>
            <a:r>
              <a:rPr lang="en-IN" b="1" dirty="0"/>
              <a:t>Software:</a:t>
            </a:r>
          </a:p>
          <a:p>
            <a:pPr marL="0" indent="0">
              <a:buNone/>
            </a:pPr>
            <a:r>
              <a:rPr lang="en-IN" dirty="0"/>
              <a:t>	XAMPP </a:t>
            </a:r>
          </a:p>
          <a:p>
            <a:pPr marL="0" indent="0">
              <a:buNone/>
            </a:pPr>
            <a:r>
              <a:rPr lang="en-IN" dirty="0"/>
              <a:t>	Web Browser (Chrome)</a:t>
            </a:r>
          </a:p>
          <a:p>
            <a:pPr marL="0" indent="0">
              <a:buNone/>
            </a:pPr>
            <a:r>
              <a:rPr lang="en-IN" dirty="0"/>
              <a:t>	Code Editor (VS Code)</a:t>
            </a:r>
          </a:p>
        </p:txBody>
      </p:sp>
    </p:spTree>
    <p:extLst>
      <p:ext uri="{BB962C8B-B14F-4D97-AF65-F5344CB8AC3E}">
        <p14:creationId xmlns:p14="http://schemas.microsoft.com/office/powerpoint/2010/main" val="32291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C44BE-FEF7-75DB-AFC4-C019BDC51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Technical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The system is built on reliable web technologies with a secure, scalable, 	and responsive architecture suitable for institutional use.</a:t>
            </a:r>
            <a:endParaRPr lang="en-IN" dirty="0"/>
          </a:p>
          <a:p>
            <a:r>
              <a:rPr lang="en-IN" b="1" dirty="0"/>
              <a:t>Economical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Low-cost development and minimal infrastructure requirements make it an 	affordable solution for any canteen.</a:t>
            </a:r>
            <a:endParaRPr lang="en-IN" dirty="0"/>
          </a:p>
          <a:p>
            <a:r>
              <a:rPr lang="en-IN" b="1" dirty="0"/>
              <a:t>Operational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Streamlines day-to-day canteen activities, reducing manual effort and 	improving overall efficiency and order accuracy.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Overview</a:t>
            </a:r>
          </a:p>
        </p:txBody>
      </p:sp>
      <p:graphicFrame>
        <p:nvGraphicFramePr>
          <p:cNvPr id="4" name="Content Placeholder 3" descr="Process Arrows diagram showing 3 steps arranged from left to right with task descriptions fo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479267"/>
              </p:ext>
            </p:extLst>
          </p:nvPr>
        </p:nvGraphicFramePr>
        <p:xfrm>
          <a:off x="1295400" y="1981200"/>
          <a:ext cx="96012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A3AEC2-213B-D0FC-ACF1-842994015CAB}"/>
              </a:ext>
            </a:extLst>
          </p:cNvPr>
          <p:cNvSpPr txBox="1"/>
          <p:nvPr/>
        </p:nvSpPr>
        <p:spPr>
          <a:xfrm>
            <a:off x="9032240" y="3149600"/>
            <a:ext cx="130048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Ensure data integrity &amp; dynamic operations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A693-7D12-06AE-C0F9-C3BB8511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631A-6F2A-E667-8589-753CAD3BD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Reduced waiting time</a:t>
            </a:r>
          </a:p>
          <a:p>
            <a:r>
              <a:rPr lang="en-US" sz="2400" dirty="0"/>
              <a:t>Organized order handling</a:t>
            </a:r>
          </a:p>
          <a:p>
            <a:r>
              <a:rPr lang="en-US" sz="2400" dirty="0"/>
              <a:t>Better user experience</a:t>
            </a:r>
          </a:p>
          <a:p>
            <a:r>
              <a:rPr lang="en-US" sz="2400" dirty="0"/>
              <a:t>Reduced food wastage</a:t>
            </a:r>
          </a:p>
          <a:p>
            <a:r>
              <a:rPr lang="en-US" sz="2400" dirty="0"/>
              <a:t>Easy monitoring for admin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1945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1038-58B9-9851-39EB-346F2DA4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517F77-5006-B1E8-EFF3-7C1E22C7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Conclusion:</a:t>
            </a:r>
          </a:p>
          <a:p>
            <a:pPr marL="0" indent="0">
              <a:buNone/>
            </a:pPr>
            <a:r>
              <a:rPr lang="en-IN" dirty="0"/>
              <a:t>	Efficient digital canteen system</a:t>
            </a:r>
          </a:p>
          <a:p>
            <a:pPr marL="0" indent="0">
              <a:buNone/>
            </a:pPr>
            <a:r>
              <a:rPr lang="en-IN" dirty="0"/>
              <a:t>	Improves time and resource management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Future Scope</a:t>
            </a:r>
          </a:p>
          <a:p>
            <a:pPr marL="0" indent="0">
              <a:buNone/>
            </a:pPr>
            <a:r>
              <a:rPr lang="en-IN" dirty="0"/>
              <a:t>	Online payment integration</a:t>
            </a:r>
          </a:p>
          <a:p>
            <a:pPr marL="0" indent="0">
              <a:buNone/>
            </a:pPr>
            <a:r>
              <a:rPr lang="en-IN" dirty="0"/>
              <a:t>	Mobile application</a:t>
            </a:r>
          </a:p>
          <a:p>
            <a:pPr marL="0" indent="0">
              <a:buNone/>
            </a:pPr>
            <a:r>
              <a:rPr lang="en-IN" dirty="0"/>
              <a:t>	Multi-canteen support</a:t>
            </a:r>
          </a:p>
          <a:p>
            <a:pPr marL="0" indent="0">
              <a:buNone/>
            </a:pPr>
            <a:r>
              <a:rPr lang="en-IN" dirty="0"/>
              <a:t>	Advanced analytics</a:t>
            </a:r>
          </a:p>
        </p:txBody>
      </p:sp>
    </p:spTree>
    <p:extLst>
      <p:ext uri="{BB962C8B-B14F-4D97-AF65-F5344CB8AC3E}">
        <p14:creationId xmlns:p14="http://schemas.microsoft.com/office/powerpoint/2010/main" val="74303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179</TotalTime>
  <Words>772</Words>
  <Application>Microsoft Office PowerPoint</Application>
  <PresentationFormat>Widescreen</PresentationFormat>
  <Paragraphs>144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Diamond Grid 16x9</vt:lpstr>
      <vt:lpstr>              Foodly   A Project On Digital Canteen Pre-Ordering System</vt:lpstr>
      <vt:lpstr>Introduction</vt:lpstr>
      <vt:lpstr>Problem Statement</vt:lpstr>
      <vt:lpstr>Proposed Solution</vt:lpstr>
      <vt:lpstr>Objectives</vt:lpstr>
      <vt:lpstr>System Overview</vt:lpstr>
      <vt:lpstr>Student Module</vt:lpstr>
      <vt:lpstr>Admin Module</vt:lpstr>
      <vt:lpstr>Key Features</vt:lpstr>
      <vt:lpstr>Technology used</vt:lpstr>
      <vt:lpstr>Hardware and Software requirements</vt:lpstr>
      <vt:lpstr>Feasibility Study</vt:lpstr>
      <vt:lpstr>Database Overview</vt:lpstr>
      <vt:lpstr>Results &amp; Advantages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Bhargav</dc:creator>
  <cp:lastModifiedBy>Shruti Bhargav</cp:lastModifiedBy>
  <cp:revision>10</cp:revision>
  <dcterms:created xsi:type="dcterms:W3CDTF">2026-04-10T15:49:33Z</dcterms:created>
  <dcterms:modified xsi:type="dcterms:W3CDTF">2026-04-10T18:49:12Z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